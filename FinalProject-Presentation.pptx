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9" r:id="rId3"/>
    <p:sldId id="297" r:id="rId4"/>
    <p:sldId id="260" r:id="rId5"/>
    <p:sldId id="298" r:id="rId6"/>
    <p:sldId id="299" r:id="rId7"/>
    <p:sldId id="263" r:id="rId8"/>
    <p:sldId id="262" r:id="rId9"/>
    <p:sldId id="264" r:id="rId10"/>
    <p:sldId id="266" r:id="rId11"/>
    <p:sldId id="300" r:id="rId12"/>
    <p:sldId id="301" r:id="rId13"/>
    <p:sldId id="302" r:id="rId14"/>
    <p:sldId id="274" r:id="rId15"/>
    <p:sldId id="275" r:id="rId16"/>
  </p:sldIdLst>
  <p:sldSz cx="9144000" cy="5143500" type="screen16x9"/>
  <p:notesSz cx="6858000" cy="9144000"/>
  <p:embeddedFontLst>
    <p:embeddedFont>
      <p:font typeface="Baloo 2 ExtraBold" panose="020B0604020202020204" charset="0"/>
      <p:bold r:id="rId18"/>
    </p:embeddedFon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92EE04-5164-4F60-88EE-14DC1CCD3BE3}">
  <a:tblStyle styleId="{EE92EE04-5164-4F60-88EE-14DC1CCD3B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5A4E755-FE95-42A0-8554-EC03CABF50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8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089C4DC9-8CDC-30BA-3FB2-A09F94E5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17897013-A77D-425A-1262-202D5DAFE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704919CE-A78A-3576-59AD-20509EC9F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1829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>
          <a:extLst>
            <a:ext uri="{FF2B5EF4-FFF2-40B4-BE49-F238E27FC236}">
              <a16:creationId xmlns:a16="http://schemas.microsoft.com/office/drawing/2014/main" id="{68756CA0-2155-1826-7270-0B5FF2AF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>
            <a:extLst>
              <a:ext uri="{FF2B5EF4-FFF2-40B4-BE49-F238E27FC236}">
                <a16:creationId xmlns:a16="http://schemas.microsoft.com/office/drawing/2014/main" id="{13D883C1-BAF3-417B-3BEC-B2BD14C87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>
            <a:extLst>
              <a:ext uri="{FF2B5EF4-FFF2-40B4-BE49-F238E27FC236}">
                <a16:creationId xmlns:a16="http://schemas.microsoft.com/office/drawing/2014/main" id="{1133ADBF-AFBA-581E-B791-D2F3B2866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711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D25FF333-5652-9C70-A050-054C730D6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815CED3-DAE5-8445-9C00-6E0FFB66A3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063EA4B-E3E5-FC0D-E0CE-A4E736EFF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585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>
          <a:extLst>
            <a:ext uri="{FF2B5EF4-FFF2-40B4-BE49-F238E27FC236}">
              <a16:creationId xmlns:a16="http://schemas.microsoft.com/office/drawing/2014/main" id="{26E97F91-EF9D-1454-58BF-A28D2AFB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>
            <a:extLst>
              <a:ext uri="{FF2B5EF4-FFF2-40B4-BE49-F238E27FC236}">
                <a16:creationId xmlns:a16="http://schemas.microsoft.com/office/drawing/2014/main" id="{130AC327-384B-FDF3-FF19-5ACBF43B8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>
            <a:extLst>
              <a:ext uri="{FF2B5EF4-FFF2-40B4-BE49-F238E27FC236}">
                <a16:creationId xmlns:a16="http://schemas.microsoft.com/office/drawing/2014/main" id="{84B4C23B-49F5-8704-B6E0-50344C6CA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985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FA5DF070-8E83-89A4-B8C3-6C632C752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B3A33166-0D14-BCE7-536A-2B06FAA4B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622B770C-27F3-8CFF-7F86-386754099C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3355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11F995E-894D-AAFA-0204-3F905F8B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613D23B5-B105-5550-F394-28A1A46F0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F9C54D81-4DAA-DE1B-29F0-DC8E2EA53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4140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203996" y="-1273080"/>
            <a:ext cx="11972579" cy="8563690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7469359" y="4220679"/>
            <a:ext cx="1246094" cy="1192058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0" name="Google Shape;460;p20"/>
          <p:cNvGrpSpPr/>
          <p:nvPr/>
        </p:nvGrpSpPr>
        <p:grpSpPr>
          <a:xfrm>
            <a:off x="-2517947" y="-1893567"/>
            <a:ext cx="12903983" cy="8553763"/>
            <a:chOff x="-2517947" y="-1893567"/>
            <a:chExt cx="12903983" cy="8553763"/>
          </a:xfrm>
        </p:grpSpPr>
        <p:sp>
          <p:nvSpPr>
            <p:cNvPr id="461" name="Google Shape;461;p20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0"/>
            <p:cNvSpPr/>
            <p:nvPr/>
          </p:nvSpPr>
          <p:spPr>
            <a:xfrm rot="6952720" flipH="1">
              <a:off x="7556640" y="3956446"/>
              <a:ext cx="2602540" cy="213436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464" name="Google Shape;464;p20"/>
            <p:cNvSpPr/>
            <p:nvPr/>
          </p:nvSpPr>
          <p:spPr>
            <a:xfrm>
              <a:off x="8694564" y="3594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49877" y="1318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18988" y="6668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7778168" y="3892387"/>
            <a:ext cx="1513295" cy="1423687"/>
            <a:chOff x="7778168" y="3892387"/>
            <a:chExt cx="1513295" cy="1423687"/>
          </a:xfrm>
        </p:grpSpPr>
        <p:sp>
          <p:nvSpPr>
            <p:cNvPr id="468" name="Google Shape;468;p20"/>
            <p:cNvSpPr/>
            <p:nvPr/>
          </p:nvSpPr>
          <p:spPr>
            <a:xfrm>
              <a:off x="7778168" y="4557704"/>
              <a:ext cx="259260" cy="42763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20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58" extrusionOk="0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1830171" y="-3026103"/>
            <a:ext cx="12553533" cy="10802628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>
            <a:spLocks noGrp="1"/>
          </p:cNvSpPr>
          <p:nvPr>
            <p:ph type="title"/>
          </p:nvPr>
        </p:nvSpPr>
        <p:spPr>
          <a:xfrm>
            <a:off x="713263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1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1" r:id="rId9"/>
    <p:sldLayoutId id="2147483664" r:id="rId10"/>
    <p:sldLayoutId id="2147483666" r:id="rId11"/>
    <p:sldLayoutId id="2147483667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000" dirty="0"/>
              <a:t>Big Data Management and Processing</a:t>
            </a:r>
            <a:endParaRPr sz="30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713225" y="3815223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400" dirty="0"/>
              <a:t>Bitcoin Market Trends</a:t>
            </a:r>
          </a:p>
          <a:p>
            <a:pPr marL="0" lvl="0" indent="0"/>
            <a:r>
              <a:rPr lang="en-US" sz="1600" dirty="0"/>
              <a:t>Christofi Maria</a:t>
            </a:r>
            <a:endParaRPr dirty="0"/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69"/>
    </mc:Choice>
    <mc:Fallback>
      <p:transition spd="slow" advTm="50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dirty="0"/>
          </a:p>
        </p:txBody>
      </p:sp>
      <p:sp>
        <p:nvSpPr>
          <p:cNvPr id="777" name="Google Shape;777;p30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goal of this project is to analyze Bitcoin blockchain transaction data using Big Data technologies in order to identify long-term trends and abnormal activity patterns, focusing on transaction volume and fees rather than price alone.</a:t>
            </a: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Bitcoin is the most widely adopted cryptocurrency and operates on a decentralized blockchain that records transactions transparently. As global interest in cryptocurrency markets has grown, the Bitcoin network has generated a large and continuously expanding volume of transactional data, reflecting real economic activity on the blockchain.</a:t>
            </a:r>
            <a:endParaRPr dirty="0"/>
          </a:p>
        </p:txBody>
      </p:sp>
      <p:pic>
        <p:nvPicPr>
          <p:cNvPr id="3074" name="Picture 2" descr="Bitcoin - Wikipedia">
            <a:extLst>
              <a:ext uri="{FF2B5EF4-FFF2-40B4-BE49-F238E27FC236}">
                <a16:creationId xmlns:a16="http://schemas.microsoft.com/office/drawing/2014/main" id="{2A4B9D9B-BD8F-821F-B57C-25121316C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600" y="3776870"/>
            <a:ext cx="520928" cy="52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D4759278-63FA-BABB-D7CE-21A21AC6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id="{F945A0FC-18DF-3195-C07A-CEC386460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Motivation</a:t>
            </a:r>
            <a:endParaRPr dirty="0"/>
          </a:p>
        </p:txBody>
      </p:sp>
      <p:sp>
        <p:nvSpPr>
          <p:cNvPr id="777" name="Google Shape;777;p30">
            <a:extLst>
              <a:ext uri="{FF2B5EF4-FFF2-40B4-BE49-F238E27FC236}">
                <a16:creationId xmlns:a16="http://schemas.microsoft.com/office/drawing/2014/main" id="{F6A1FAB7-D6E7-829F-3999-1D15D5088BD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Understanding long-term trends and detecting abnormal market activity are essential tasks in risk management, algorithmic trading, and investment analysis.</a:t>
            </a:r>
          </a:p>
        </p:txBody>
      </p:sp>
      <p:sp>
        <p:nvSpPr>
          <p:cNvPr id="778" name="Google Shape;778;p30">
            <a:extLst>
              <a:ext uri="{FF2B5EF4-FFF2-40B4-BE49-F238E27FC236}">
                <a16:creationId xmlns:a16="http://schemas.microsoft.com/office/drawing/2014/main" id="{40B374C1-C92F-77C9-C5FD-01E0A69759B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36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As someone working in the fintech and FX sector, I am already familiar with market microstructure, price movements, and trading volumes. This experience motivated to explore market dynamics using Big Data technologies.</a:t>
            </a:r>
          </a:p>
          <a:p>
            <a:pPr marL="0" lvl="0" indent="0"/>
            <a:r>
              <a:rPr lang="en-US" dirty="0"/>
              <a:t>Analyzing crypto markets is highly interesting for the broader audience of traders, analysts, researchers, and fintech companies who rely on fast, data-driven insights. </a:t>
            </a:r>
            <a:endParaRPr dirty="0"/>
          </a:p>
        </p:txBody>
      </p:sp>
      <p:pic>
        <p:nvPicPr>
          <p:cNvPr id="2" name="Picture 2" descr="Bitcoin - Wikipedia">
            <a:extLst>
              <a:ext uri="{FF2B5EF4-FFF2-40B4-BE49-F238E27FC236}">
                <a16:creationId xmlns:a16="http://schemas.microsoft.com/office/drawing/2014/main" id="{37ED45DC-5466-4554-19AB-1CBEBEB89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600" y="3776870"/>
            <a:ext cx="520928" cy="52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03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BIG DATA CHALLENGES</a:t>
            </a:r>
            <a:endParaRPr dirty="0"/>
          </a:p>
        </p:txBody>
      </p:sp>
      <p:sp>
        <p:nvSpPr>
          <p:cNvPr id="784" name="Google Shape;784;p31"/>
          <p:cNvSpPr txBox="1">
            <a:spLocks noGrp="1"/>
          </p:cNvSpPr>
          <p:nvPr>
            <p:ph type="title" idx="2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grpSp>
        <p:nvGrpSpPr>
          <p:cNvPr id="786" name="Google Shape;786;p31"/>
          <p:cNvGrpSpPr/>
          <p:nvPr/>
        </p:nvGrpSpPr>
        <p:grpSpPr>
          <a:xfrm>
            <a:off x="713221" y="502143"/>
            <a:ext cx="2987196" cy="3456293"/>
            <a:chOff x="713221" y="502143"/>
            <a:chExt cx="2987196" cy="3456293"/>
          </a:xfrm>
        </p:grpSpPr>
        <p:grpSp>
          <p:nvGrpSpPr>
            <p:cNvPr id="787" name="Google Shape;787;p31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788" name="Google Shape;788;p31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1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1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1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1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1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1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808" name="Google Shape;808;p31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1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31"/>
            <p:cNvSpPr/>
            <p:nvPr/>
          </p:nvSpPr>
          <p:spPr>
            <a:xfrm>
              <a:off x="3052028" y="502143"/>
              <a:ext cx="560784" cy="924988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3003630" y="2329937"/>
              <a:ext cx="269949" cy="266432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3003613" y="2807213"/>
              <a:ext cx="166095" cy="27398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3" name="Google Shape;813;p31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814" name="Google Shape;814;p31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1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1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1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1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1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1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1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1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1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8" name="Google Shape;828;p31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29" name="Google Shape;829;p31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avLst/>
                <a:gdLst/>
                <a:ahLst/>
                <a:cxnLst/>
                <a:rect l="l" t="t" r="r" b="b"/>
                <a:pathLst>
                  <a:path w="85" h="70" extrusionOk="0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avLst/>
                <a:gdLst/>
                <a:ahLst/>
                <a:cxnLst/>
                <a:rect l="l" t="t" r="r" b="b"/>
                <a:pathLst>
                  <a:path w="98" h="29" extrusionOk="0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4" name="Google Shape;864;p31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65" name="Google Shape;865;p31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1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1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1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1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1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1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1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1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>
          <a:extLst>
            <a:ext uri="{FF2B5EF4-FFF2-40B4-BE49-F238E27FC236}">
              <a16:creationId xmlns:a16="http://schemas.microsoft.com/office/drawing/2014/main" id="{2F77E7D9-01DE-A627-4BAF-CA684FCD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34">
            <a:extLst>
              <a:ext uri="{FF2B5EF4-FFF2-40B4-BE49-F238E27FC236}">
                <a16:creationId xmlns:a16="http://schemas.microsoft.com/office/drawing/2014/main" id="{D211F4F3-5A28-3C65-478A-5D0C26DD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04713" y="1715936"/>
            <a:ext cx="2531825" cy="2490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Blockchain and cryptocurrency data are generated continuously in real time. Although this project analyzes historical data, it reflects a high-velocity environment where data is originally produced as a stream.</a:t>
            </a:r>
            <a:endParaRPr dirty="0"/>
          </a:p>
        </p:txBody>
      </p:sp>
      <p:sp>
        <p:nvSpPr>
          <p:cNvPr id="903" name="Google Shape;903;p34">
            <a:extLst>
              <a:ext uri="{FF2B5EF4-FFF2-40B4-BE49-F238E27FC236}">
                <a16:creationId xmlns:a16="http://schemas.microsoft.com/office/drawing/2014/main" id="{283FCC60-83FB-F054-569C-B2AADCBACAB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835938" y="1715934"/>
            <a:ext cx="2588062" cy="2490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dataset contains heterogeneous data types, including timestamps, transaction counts, and fee-related metrics. This diversity makes the data well suited for flexible NoSQL storage models.</a:t>
            </a:r>
            <a:endParaRPr dirty="0"/>
          </a:p>
        </p:txBody>
      </p:sp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E23DE551-B1F9-D22D-0592-E4EC5930D2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Big Data Dimensions</a:t>
            </a:r>
            <a:endParaRPr dirty="0"/>
          </a:p>
        </p:txBody>
      </p:sp>
      <p:sp>
        <p:nvSpPr>
          <p:cNvPr id="905" name="Google Shape;905;p34">
            <a:extLst>
              <a:ext uri="{FF2B5EF4-FFF2-40B4-BE49-F238E27FC236}">
                <a16:creationId xmlns:a16="http://schemas.microsoft.com/office/drawing/2014/main" id="{EDBE825E-BDBB-D2EA-72FA-97118A6B0F7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2413" y="1715937"/>
            <a:ext cx="2532300" cy="25936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Cryptocurrency markets generate large-scale time-series data at high frequency. Even a single asset produces hundreds of thousands of records over time, requiring scalable storage and aggregation techniques.</a:t>
            </a:r>
            <a:endParaRPr dirty="0"/>
          </a:p>
        </p:txBody>
      </p:sp>
      <p:sp>
        <p:nvSpPr>
          <p:cNvPr id="909" name="Google Shape;909;p34">
            <a:extLst>
              <a:ext uri="{FF2B5EF4-FFF2-40B4-BE49-F238E27FC236}">
                <a16:creationId xmlns:a16="http://schemas.microsoft.com/office/drawing/2014/main" id="{E455F70B-1920-FBD5-5BDF-502843DAE5E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72412" y="1248099"/>
            <a:ext cx="2532900" cy="4678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Volume</a:t>
            </a:r>
            <a:endParaRPr dirty="0"/>
          </a:p>
        </p:txBody>
      </p:sp>
      <p:sp>
        <p:nvSpPr>
          <p:cNvPr id="910" name="Google Shape;910;p34">
            <a:extLst>
              <a:ext uri="{FF2B5EF4-FFF2-40B4-BE49-F238E27FC236}">
                <a16:creationId xmlns:a16="http://schemas.microsoft.com/office/drawing/2014/main" id="{DF6C4EB9-D2FB-6097-D6B7-49A3C9056925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304713" y="1248098"/>
            <a:ext cx="2532900" cy="4678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Velocity</a:t>
            </a:r>
            <a:endParaRPr dirty="0"/>
          </a:p>
        </p:txBody>
      </p:sp>
      <p:sp>
        <p:nvSpPr>
          <p:cNvPr id="911" name="Google Shape;911;p34">
            <a:extLst>
              <a:ext uri="{FF2B5EF4-FFF2-40B4-BE49-F238E27FC236}">
                <a16:creationId xmlns:a16="http://schemas.microsoft.com/office/drawing/2014/main" id="{4190F103-9331-2FE5-4997-D7167F5F6A4E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35938" y="1248098"/>
            <a:ext cx="2532900" cy="4678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Variety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464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AD5C3F47-1442-6EA0-E7AF-A18C62FD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3EDDEE71-D690-ADC9-47BE-A87DF1EA8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892" name="Google Shape;892;p33">
            <a:extLst>
              <a:ext uri="{FF2B5EF4-FFF2-40B4-BE49-F238E27FC236}">
                <a16:creationId xmlns:a16="http://schemas.microsoft.com/office/drawing/2014/main" id="{B065D9A1-EF2A-CE4A-1747-F43E2CAE67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89827" y="2236874"/>
            <a:ext cx="3141900" cy="14443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Initial data cleaning and transformation were performed in Google </a:t>
            </a:r>
            <a:r>
              <a:rPr lang="en-US" dirty="0" err="1"/>
              <a:t>BigQuery</a:t>
            </a:r>
            <a:r>
              <a:rPr lang="en-US" dirty="0"/>
              <a:t> to handle large-scale preprocessing. The dataset was aggregated at a daily level, standardized, and exported as a CSV file for downstream analysis.</a:t>
            </a:r>
            <a:endParaRPr dirty="0"/>
          </a:p>
        </p:txBody>
      </p:sp>
      <p:sp>
        <p:nvSpPr>
          <p:cNvPr id="893" name="Google Shape;893;p33">
            <a:extLst>
              <a:ext uri="{FF2B5EF4-FFF2-40B4-BE49-F238E27FC236}">
                <a16:creationId xmlns:a16="http://schemas.microsoft.com/office/drawing/2014/main" id="{A81A27F9-A8F7-3AED-243E-7E6362D1EE4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12325" y="2260200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dataset was obtained from Google </a:t>
            </a:r>
            <a:r>
              <a:rPr lang="en-US" dirty="0" err="1"/>
              <a:t>BigQuery</a:t>
            </a:r>
            <a:r>
              <a:rPr lang="en-US" dirty="0"/>
              <a:t> public Bitcoin blockchain data. It spans from 2009 to 2026 and contains daily aggregated metrics describing transaction volume and network fees.</a:t>
            </a:r>
            <a:endParaRPr dirty="0"/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A92BEBA4-C8D4-2A1A-7AC0-1374064B2B9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12325" y="1851050"/>
            <a:ext cx="3141900" cy="54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DATASET DESCRIPTION</a:t>
            </a:r>
            <a:endParaRPr dirty="0"/>
          </a:p>
        </p:txBody>
      </p:sp>
      <p:sp>
        <p:nvSpPr>
          <p:cNvPr id="895" name="Google Shape;895;p33">
            <a:extLst>
              <a:ext uri="{FF2B5EF4-FFF2-40B4-BE49-F238E27FC236}">
                <a16:creationId xmlns:a16="http://schemas.microsoft.com/office/drawing/2014/main" id="{1F2668C4-C7C9-EA37-9063-186BEB58469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989827" y="1936588"/>
            <a:ext cx="3141900" cy="409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DATA PREPARATION</a:t>
            </a:r>
            <a:endParaRPr dirty="0"/>
          </a:p>
        </p:txBody>
      </p:sp>
      <p:sp>
        <p:nvSpPr>
          <p:cNvPr id="896" name="Google Shape;896;p33">
            <a:extLst>
              <a:ext uri="{FF2B5EF4-FFF2-40B4-BE49-F238E27FC236}">
                <a16:creationId xmlns:a16="http://schemas.microsoft.com/office/drawing/2014/main" id="{DEBC41C1-E6C7-1BB4-928B-AAF4F9170517}"/>
              </a:ext>
            </a:extLst>
          </p:cNvPr>
          <p:cNvSpPr/>
          <p:nvPr/>
        </p:nvSpPr>
        <p:spPr>
          <a:xfrm>
            <a:off x="1069717" y="1463669"/>
            <a:ext cx="381468" cy="335163"/>
          </a:xfrm>
          <a:custGeom>
            <a:avLst/>
            <a:gdLst/>
            <a:ahLst/>
            <a:cxnLst/>
            <a:rect l="l" t="t" r="r" b="b"/>
            <a:pathLst>
              <a:path w="346" h="304" extrusionOk="0">
                <a:moveTo>
                  <a:pt x="261" y="0"/>
                </a:moveTo>
                <a:lnTo>
                  <a:pt x="87" y="0"/>
                </a:lnTo>
                <a:lnTo>
                  <a:pt x="0" y="152"/>
                </a:lnTo>
                <a:lnTo>
                  <a:pt x="87" y="304"/>
                </a:lnTo>
                <a:lnTo>
                  <a:pt x="261" y="304"/>
                </a:lnTo>
                <a:lnTo>
                  <a:pt x="346" y="152"/>
                </a:lnTo>
                <a:lnTo>
                  <a:pt x="261" y="0"/>
                </a:lnTo>
                <a:close/>
                <a:moveTo>
                  <a:pt x="213" y="223"/>
                </a:moveTo>
                <a:lnTo>
                  <a:pt x="133" y="223"/>
                </a:lnTo>
                <a:lnTo>
                  <a:pt x="92" y="152"/>
                </a:lnTo>
                <a:lnTo>
                  <a:pt x="133" y="81"/>
                </a:lnTo>
                <a:lnTo>
                  <a:pt x="213" y="81"/>
                </a:lnTo>
                <a:lnTo>
                  <a:pt x="254" y="152"/>
                </a:lnTo>
                <a:lnTo>
                  <a:pt x="213" y="223"/>
                </a:lnTo>
                <a:close/>
                <a:moveTo>
                  <a:pt x="213" y="62"/>
                </a:moveTo>
                <a:lnTo>
                  <a:pt x="133" y="62"/>
                </a:lnTo>
                <a:lnTo>
                  <a:pt x="111" y="21"/>
                </a:lnTo>
                <a:lnTo>
                  <a:pt x="237" y="21"/>
                </a:lnTo>
                <a:lnTo>
                  <a:pt x="213" y="62"/>
                </a:lnTo>
                <a:close/>
                <a:moveTo>
                  <a:pt x="116" y="71"/>
                </a:moveTo>
                <a:lnTo>
                  <a:pt x="76" y="142"/>
                </a:lnTo>
                <a:lnTo>
                  <a:pt x="31" y="142"/>
                </a:lnTo>
                <a:lnTo>
                  <a:pt x="92" y="31"/>
                </a:lnTo>
                <a:lnTo>
                  <a:pt x="116" y="71"/>
                </a:lnTo>
                <a:close/>
                <a:moveTo>
                  <a:pt x="76" y="161"/>
                </a:moveTo>
                <a:lnTo>
                  <a:pt x="116" y="233"/>
                </a:lnTo>
                <a:lnTo>
                  <a:pt x="92" y="273"/>
                </a:lnTo>
                <a:lnTo>
                  <a:pt x="31" y="161"/>
                </a:lnTo>
                <a:lnTo>
                  <a:pt x="76" y="161"/>
                </a:lnTo>
                <a:close/>
                <a:moveTo>
                  <a:pt x="133" y="245"/>
                </a:moveTo>
                <a:lnTo>
                  <a:pt x="213" y="245"/>
                </a:lnTo>
                <a:lnTo>
                  <a:pt x="237" y="285"/>
                </a:lnTo>
                <a:lnTo>
                  <a:pt x="111" y="285"/>
                </a:lnTo>
                <a:lnTo>
                  <a:pt x="133" y="245"/>
                </a:lnTo>
                <a:close/>
                <a:moveTo>
                  <a:pt x="230" y="233"/>
                </a:moveTo>
                <a:lnTo>
                  <a:pt x="270" y="161"/>
                </a:lnTo>
                <a:lnTo>
                  <a:pt x="318" y="161"/>
                </a:lnTo>
                <a:lnTo>
                  <a:pt x="254" y="273"/>
                </a:lnTo>
                <a:lnTo>
                  <a:pt x="230" y="233"/>
                </a:lnTo>
                <a:close/>
                <a:moveTo>
                  <a:pt x="270" y="142"/>
                </a:moveTo>
                <a:lnTo>
                  <a:pt x="230" y="71"/>
                </a:lnTo>
                <a:lnTo>
                  <a:pt x="254" y="31"/>
                </a:lnTo>
                <a:lnTo>
                  <a:pt x="318" y="142"/>
                </a:lnTo>
                <a:lnTo>
                  <a:pt x="270" y="1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3">
            <a:extLst>
              <a:ext uri="{FF2B5EF4-FFF2-40B4-BE49-F238E27FC236}">
                <a16:creationId xmlns:a16="http://schemas.microsoft.com/office/drawing/2014/main" id="{015A84E4-0188-AFA8-DB85-AD1D9608ECB8}"/>
              </a:ext>
            </a:extLst>
          </p:cNvPr>
          <p:cNvSpPr/>
          <p:nvPr/>
        </p:nvSpPr>
        <p:spPr>
          <a:xfrm>
            <a:off x="4989827" y="1443823"/>
            <a:ext cx="382570" cy="374853"/>
          </a:xfrm>
          <a:custGeom>
            <a:avLst/>
            <a:gdLst/>
            <a:ahLst/>
            <a:cxnLst/>
            <a:rect l="l" t="t" r="r" b="b"/>
            <a:pathLst>
              <a:path w="347" h="340" extrusionOk="0">
                <a:moveTo>
                  <a:pt x="173" y="0"/>
                </a:moveTo>
                <a:lnTo>
                  <a:pt x="0" y="129"/>
                </a:lnTo>
                <a:lnTo>
                  <a:pt x="64" y="340"/>
                </a:lnTo>
                <a:lnTo>
                  <a:pt x="285" y="340"/>
                </a:lnTo>
                <a:lnTo>
                  <a:pt x="347" y="129"/>
                </a:lnTo>
                <a:lnTo>
                  <a:pt x="173" y="0"/>
                </a:lnTo>
                <a:close/>
                <a:moveTo>
                  <a:pt x="271" y="145"/>
                </a:moveTo>
                <a:lnTo>
                  <a:pt x="183" y="81"/>
                </a:lnTo>
                <a:lnTo>
                  <a:pt x="183" y="31"/>
                </a:lnTo>
                <a:lnTo>
                  <a:pt x="313" y="129"/>
                </a:lnTo>
                <a:lnTo>
                  <a:pt x="271" y="145"/>
                </a:lnTo>
                <a:close/>
                <a:moveTo>
                  <a:pt x="225" y="257"/>
                </a:moveTo>
                <a:lnTo>
                  <a:pt x="123" y="257"/>
                </a:lnTo>
                <a:lnTo>
                  <a:pt x="90" y="159"/>
                </a:lnTo>
                <a:lnTo>
                  <a:pt x="173" y="100"/>
                </a:lnTo>
                <a:lnTo>
                  <a:pt x="256" y="159"/>
                </a:lnTo>
                <a:lnTo>
                  <a:pt x="225" y="257"/>
                </a:lnTo>
                <a:close/>
                <a:moveTo>
                  <a:pt x="164" y="81"/>
                </a:moveTo>
                <a:lnTo>
                  <a:pt x="76" y="145"/>
                </a:lnTo>
                <a:lnTo>
                  <a:pt x="36" y="129"/>
                </a:lnTo>
                <a:lnTo>
                  <a:pt x="164" y="31"/>
                </a:lnTo>
                <a:lnTo>
                  <a:pt x="164" y="81"/>
                </a:lnTo>
                <a:close/>
                <a:moveTo>
                  <a:pt x="71" y="164"/>
                </a:moveTo>
                <a:lnTo>
                  <a:pt x="104" y="266"/>
                </a:lnTo>
                <a:lnTo>
                  <a:pt x="74" y="307"/>
                </a:lnTo>
                <a:lnTo>
                  <a:pt x="29" y="150"/>
                </a:lnTo>
                <a:lnTo>
                  <a:pt x="71" y="164"/>
                </a:lnTo>
                <a:close/>
                <a:moveTo>
                  <a:pt x="121" y="278"/>
                </a:moveTo>
                <a:lnTo>
                  <a:pt x="228" y="278"/>
                </a:lnTo>
                <a:lnTo>
                  <a:pt x="256" y="319"/>
                </a:lnTo>
                <a:lnTo>
                  <a:pt x="90" y="319"/>
                </a:lnTo>
                <a:lnTo>
                  <a:pt x="121" y="278"/>
                </a:lnTo>
                <a:close/>
                <a:moveTo>
                  <a:pt x="244" y="266"/>
                </a:moveTo>
                <a:lnTo>
                  <a:pt x="278" y="164"/>
                </a:lnTo>
                <a:lnTo>
                  <a:pt x="320" y="150"/>
                </a:lnTo>
                <a:lnTo>
                  <a:pt x="273" y="307"/>
                </a:lnTo>
                <a:lnTo>
                  <a:pt x="244" y="2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Google BigQuery: A Tutorial for Marketers | CXL">
            <a:extLst>
              <a:ext uri="{FF2B5EF4-FFF2-40B4-BE49-F238E27FC236}">
                <a16:creationId xmlns:a16="http://schemas.microsoft.com/office/drawing/2014/main" id="{B18036C4-4A66-BD19-500A-180862E71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5586" y="539336"/>
            <a:ext cx="1371193" cy="7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Cloud | Brooklyn, NY | We Define IT">
            <a:extLst>
              <a:ext uri="{FF2B5EF4-FFF2-40B4-BE49-F238E27FC236}">
                <a16:creationId xmlns:a16="http://schemas.microsoft.com/office/drawing/2014/main" id="{920DDABE-7BDD-4D17-8018-FCB8652FC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697" y="755906"/>
            <a:ext cx="842839" cy="84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572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ARCHITECTURE</a:t>
            </a:r>
            <a:endParaRPr dirty="0"/>
          </a:p>
        </p:txBody>
      </p:sp>
      <p:sp>
        <p:nvSpPr>
          <p:cNvPr id="905" name="Google Shape;905;p34"/>
          <p:cNvSpPr txBox="1">
            <a:spLocks noGrp="1"/>
          </p:cNvSpPr>
          <p:nvPr>
            <p:ph type="subTitle" idx="1"/>
          </p:nvPr>
        </p:nvSpPr>
        <p:spPr>
          <a:xfrm>
            <a:off x="836023" y="1128431"/>
            <a:ext cx="7534489" cy="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project follows a Big Data pipeline consisting of cloud-based preprocessing, NoSQL storage, and batch analytics. This architecture separates data ingestion, storage, and processing to improve scalability and performance.</a:t>
            </a:r>
            <a:endParaRPr dirty="0"/>
          </a:p>
        </p:txBody>
      </p:sp>
      <p:sp>
        <p:nvSpPr>
          <p:cNvPr id="912" name="Google Shape;912;p34"/>
          <p:cNvSpPr txBox="1">
            <a:spLocks noGrp="1"/>
          </p:cNvSpPr>
          <p:nvPr>
            <p:ph type="subTitle" idx="13"/>
          </p:nvPr>
        </p:nvSpPr>
        <p:spPr>
          <a:xfrm>
            <a:off x="811480" y="2751113"/>
            <a:ext cx="1450706" cy="839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Google </a:t>
            </a:r>
            <a:r>
              <a:rPr lang="en-US" dirty="0" err="1"/>
              <a:t>BigQuery</a:t>
            </a:r>
            <a:endParaRPr dirty="0"/>
          </a:p>
        </p:txBody>
      </p:sp>
      <p:grpSp>
        <p:nvGrpSpPr>
          <p:cNvPr id="7" name="Google Shape;8302;p56">
            <a:extLst>
              <a:ext uri="{FF2B5EF4-FFF2-40B4-BE49-F238E27FC236}">
                <a16:creationId xmlns:a16="http://schemas.microsoft.com/office/drawing/2014/main" id="{E002D237-6C1C-71C4-DEF1-D650EE95E699}"/>
              </a:ext>
            </a:extLst>
          </p:cNvPr>
          <p:cNvGrpSpPr/>
          <p:nvPr/>
        </p:nvGrpSpPr>
        <p:grpSpPr>
          <a:xfrm>
            <a:off x="517649" y="2210463"/>
            <a:ext cx="7640390" cy="1940118"/>
            <a:chOff x="238125" y="2506075"/>
            <a:chExt cx="7115411" cy="673075"/>
          </a:xfrm>
        </p:grpSpPr>
        <p:sp>
          <p:nvSpPr>
            <p:cNvPr id="8" name="Google Shape;8303;p56">
              <a:extLst>
                <a:ext uri="{FF2B5EF4-FFF2-40B4-BE49-F238E27FC236}">
                  <a16:creationId xmlns:a16="http://schemas.microsoft.com/office/drawing/2014/main" id="{51213780-F6A2-668E-AB61-660A8F3E9922}"/>
                </a:ext>
              </a:extLst>
            </p:cNvPr>
            <p:cNvSpPr/>
            <p:nvPr/>
          </p:nvSpPr>
          <p:spPr>
            <a:xfrm>
              <a:off x="238125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304;p56">
              <a:extLst>
                <a:ext uri="{FF2B5EF4-FFF2-40B4-BE49-F238E27FC236}">
                  <a16:creationId xmlns:a16="http://schemas.microsoft.com/office/drawing/2014/main" id="{991D2FF9-EAE4-FCE0-247B-E20138DE6E2C}"/>
                </a:ext>
              </a:extLst>
            </p:cNvPr>
            <p:cNvSpPr/>
            <p:nvPr/>
          </p:nvSpPr>
          <p:spPr>
            <a:xfrm>
              <a:off x="1606190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305;p56">
              <a:extLst>
                <a:ext uri="{FF2B5EF4-FFF2-40B4-BE49-F238E27FC236}">
                  <a16:creationId xmlns:a16="http://schemas.microsoft.com/office/drawing/2014/main" id="{6A2340A2-BFE5-6393-8A78-29D7223A6163}"/>
                </a:ext>
              </a:extLst>
            </p:cNvPr>
            <p:cNvSpPr/>
            <p:nvPr/>
          </p:nvSpPr>
          <p:spPr>
            <a:xfrm>
              <a:off x="297348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306;p56">
              <a:extLst>
                <a:ext uri="{FF2B5EF4-FFF2-40B4-BE49-F238E27FC236}">
                  <a16:creationId xmlns:a16="http://schemas.microsoft.com/office/drawing/2014/main" id="{5C11E23E-65F3-836B-279A-7E593580BF4F}"/>
                </a:ext>
              </a:extLst>
            </p:cNvPr>
            <p:cNvSpPr/>
            <p:nvPr/>
          </p:nvSpPr>
          <p:spPr>
            <a:xfrm>
              <a:off x="5709611" y="2506075"/>
              <a:ext cx="1643925" cy="673075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307;p56">
              <a:extLst>
                <a:ext uri="{FF2B5EF4-FFF2-40B4-BE49-F238E27FC236}">
                  <a16:creationId xmlns:a16="http://schemas.microsoft.com/office/drawing/2014/main" id="{B9E86BD0-5B69-C305-65A0-E5A6AB27B0C3}"/>
                </a:ext>
              </a:extLst>
            </p:cNvPr>
            <p:cNvSpPr/>
            <p:nvPr/>
          </p:nvSpPr>
          <p:spPr>
            <a:xfrm>
              <a:off x="4342321" y="2506075"/>
              <a:ext cx="1643150" cy="673075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912;p34">
            <a:extLst>
              <a:ext uri="{FF2B5EF4-FFF2-40B4-BE49-F238E27FC236}">
                <a16:creationId xmlns:a16="http://schemas.microsoft.com/office/drawing/2014/main" id="{8E6F5465-8C75-9914-34B7-DB1FEF99983B}"/>
              </a:ext>
            </a:extLst>
          </p:cNvPr>
          <p:cNvSpPr txBox="1">
            <a:spLocks/>
          </p:cNvSpPr>
          <p:nvPr/>
        </p:nvSpPr>
        <p:spPr>
          <a:xfrm>
            <a:off x="2387122" y="2862470"/>
            <a:ext cx="1572628" cy="95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n-US" dirty="0"/>
              <a:t>Cleaned CSV Dataset</a:t>
            </a:r>
          </a:p>
        </p:txBody>
      </p:sp>
      <p:sp>
        <p:nvSpPr>
          <p:cNvPr id="30" name="Google Shape;912;p34">
            <a:extLst>
              <a:ext uri="{FF2B5EF4-FFF2-40B4-BE49-F238E27FC236}">
                <a16:creationId xmlns:a16="http://schemas.microsoft.com/office/drawing/2014/main" id="{103D0C4A-18D5-10EB-04E3-9802BC99F39D}"/>
              </a:ext>
            </a:extLst>
          </p:cNvPr>
          <p:cNvSpPr txBox="1">
            <a:spLocks/>
          </p:cNvSpPr>
          <p:nvPr/>
        </p:nvSpPr>
        <p:spPr>
          <a:xfrm>
            <a:off x="5259185" y="2691496"/>
            <a:ext cx="1572628" cy="95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n-US" dirty="0"/>
              <a:t>Apache Spark</a:t>
            </a:r>
          </a:p>
        </p:txBody>
      </p:sp>
      <p:sp>
        <p:nvSpPr>
          <p:cNvPr id="31" name="Google Shape;912;p34">
            <a:extLst>
              <a:ext uri="{FF2B5EF4-FFF2-40B4-BE49-F238E27FC236}">
                <a16:creationId xmlns:a16="http://schemas.microsoft.com/office/drawing/2014/main" id="{7D843859-8B95-DE2F-859B-1024772A6186}"/>
              </a:ext>
            </a:extLst>
          </p:cNvPr>
          <p:cNvSpPr txBox="1">
            <a:spLocks/>
          </p:cNvSpPr>
          <p:nvPr/>
        </p:nvSpPr>
        <p:spPr>
          <a:xfrm>
            <a:off x="3816953" y="2691497"/>
            <a:ext cx="1572628" cy="95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n-US" dirty="0"/>
              <a:t>MongoDB Atlas</a:t>
            </a:r>
          </a:p>
        </p:txBody>
      </p:sp>
      <p:sp>
        <p:nvSpPr>
          <p:cNvPr id="32" name="Google Shape;912;p34">
            <a:extLst>
              <a:ext uri="{FF2B5EF4-FFF2-40B4-BE49-F238E27FC236}">
                <a16:creationId xmlns:a16="http://schemas.microsoft.com/office/drawing/2014/main" id="{55F94670-3DC5-E3CB-1A0D-07ACED6DDBDF}"/>
              </a:ext>
            </a:extLst>
          </p:cNvPr>
          <p:cNvSpPr txBox="1">
            <a:spLocks/>
          </p:cNvSpPr>
          <p:nvPr/>
        </p:nvSpPr>
        <p:spPr>
          <a:xfrm>
            <a:off x="6644089" y="2782994"/>
            <a:ext cx="1779911" cy="1038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n-US" dirty="0"/>
              <a:t>Analysis &amp; </a:t>
            </a:r>
            <a:r>
              <a:rPr lang="en-US" dirty="0" err="1"/>
              <a:t>Visuali</a:t>
            </a:r>
            <a:r>
              <a:rPr lang="en-US" dirty="0"/>
              <a:t>-</a:t>
            </a:r>
          </a:p>
          <a:p>
            <a:pPr marL="0" indent="0"/>
            <a:r>
              <a:rPr lang="en-US" dirty="0" err="1"/>
              <a:t>zation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Storage &amp; Processing</a:t>
            </a:r>
            <a:endParaRPr dirty="0"/>
          </a:p>
        </p:txBody>
      </p:sp>
      <p:sp>
        <p:nvSpPr>
          <p:cNvPr id="892" name="Google Shape;892;p33"/>
          <p:cNvSpPr txBox="1">
            <a:spLocks noGrp="1"/>
          </p:cNvSpPr>
          <p:nvPr>
            <p:ph type="subTitle" idx="1"/>
          </p:nvPr>
        </p:nvSpPr>
        <p:spPr>
          <a:xfrm>
            <a:off x="4989827" y="1922687"/>
            <a:ext cx="3141843" cy="1916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Apache Spark was used to demonstrate batch-oriented Big Data processing. Spark enables scalable aggregation and analysis, illustrating how the workload could be extended to larger datasets or distributed environments.</a:t>
            </a:r>
            <a:endParaRPr dirty="0"/>
          </a:p>
        </p:txBody>
      </p:sp>
      <p:sp>
        <p:nvSpPr>
          <p:cNvPr id="893" name="Google Shape;893;p33"/>
          <p:cNvSpPr txBox="1">
            <a:spLocks noGrp="1"/>
          </p:cNvSpPr>
          <p:nvPr>
            <p:ph type="subTitle" idx="2"/>
          </p:nvPr>
        </p:nvSpPr>
        <p:spPr>
          <a:xfrm>
            <a:off x="1012325" y="1922687"/>
            <a:ext cx="3141843" cy="1916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MongoDB was used as the NoSQL database due to its flexible document-oriented data model. Indexing and aggregation pipelines were applied to efficiently analyze transaction trends and detect abnormal activity.</a:t>
            </a:r>
            <a:endParaRPr dirty="0"/>
          </a:p>
        </p:txBody>
      </p:sp>
      <p:sp>
        <p:nvSpPr>
          <p:cNvPr id="894" name="Google Shape;894;p33"/>
          <p:cNvSpPr txBox="1">
            <a:spLocks noGrp="1"/>
          </p:cNvSpPr>
          <p:nvPr>
            <p:ph type="subTitle" idx="3"/>
          </p:nvPr>
        </p:nvSpPr>
        <p:spPr>
          <a:xfrm>
            <a:off x="1012268" y="1057487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NOSQL STORAGE (MONGODB)</a:t>
            </a:r>
            <a:endParaRPr dirty="0"/>
          </a:p>
        </p:txBody>
      </p:sp>
      <p:sp>
        <p:nvSpPr>
          <p:cNvPr id="895" name="Google Shape;895;p33"/>
          <p:cNvSpPr txBox="1">
            <a:spLocks noGrp="1"/>
          </p:cNvSpPr>
          <p:nvPr>
            <p:ph type="subTitle" idx="4"/>
          </p:nvPr>
        </p:nvSpPr>
        <p:spPr>
          <a:xfrm>
            <a:off x="4989827" y="1057487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BATCH PROCESSING (APACHE SPARK)</a:t>
            </a:r>
            <a:endParaRPr dirty="0"/>
          </a:p>
        </p:txBody>
      </p:sp>
      <p:pic>
        <p:nvPicPr>
          <p:cNvPr id="4098" name="Picture 2" descr="MongoDB deepens Google Cloud partnership with new Atlas integrations">
            <a:extLst>
              <a:ext uri="{FF2B5EF4-FFF2-40B4-BE49-F238E27FC236}">
                <a16:creationId xmlns:a16="http://schemas.microsoft.com/office/drawing/2014/main" id="{505DCBC7-C8BC-F328-0619-F051B25F6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8" y="4086013"/>
            <a:ext cx="1159826" cy="69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pache Spark - Wikipedia">
            <a:extLst>
              <a:ext uri="{FF2B5EF4-FFF2-40B4-BE49-F238E27FC236}">
                <a16:creationId xmlns:a16="http://schemas.microsoft.com/office/drawing/2014/main" id="{FDB1067E-CB7C-3B0E-EE54-ECD4200E6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269" y="508190"/>
            <a:ext cx="1057117" cy="54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5"/>
          <p:cNvSpPr txBox="1">
            <a:spLocks noGrp="1"/>
          </p:cNvSpPr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RESULTS</a:t>
            </a:r>
            <a:endParaRPr dirty="0"/>
          </a:p>
        </p:txBody>
      </p:sp>
      <p:grpSp>
        <p:nvGrpSpPr>
          <p:cNvPr id="920" name="Google Shape;920;p35"/>
          <p:cNvGrpSpPr/>
          <p:nvPr/>
        </p:nvGrpSpPr>
        <p:grpSpPr>
          <a:xfrm>
            <a:off x="4817053" y="290718"/>
            <a:ext cx="3897567" cy="4009205"/>
            <a:chOff x="4817053" y="290718"/>
            <a:chExt cx="3897567" cy="4009205"/>
          </a:xfrm>
        </p:grpSpPr>
        <p:sp>
          <p:nvSpPr>
            <p:cNvPr id="921" name="Google Shape;921;p35"/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2" name="Google Shape;922;p35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923" name="Google Shape;923;p35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5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35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35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35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35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35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5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5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5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5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5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5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5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2" name="Google Shape;942;p35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943" name="Google Shape;943;p35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944" name="Google Shape;944;p35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35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0" name="Google Shape;950;p35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1" name="Google Shape;951;p35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2" name="Google Shape;952;p35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3" name="Google Shape;953;p35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35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35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35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0" name="Google Shape;960;p35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2" name="Google Shape;962;p35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64" name="Google Shape;964;p35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35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35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7" name="Google Shape;967;p35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969;p35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35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71" name="Google Shape;971;p35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35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" name="Google Shape;973;p35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" name="Google Shape;974;p35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5" name="Google Shape;975;p35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5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5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78" name="Google Shape;978;p35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79" name="Google Shape;979;p35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0" name="Google Shape;980;p35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81" name="Google Shape;981;p35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35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3" name="Google Shape;983;p35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84" name="Google Shape;984;p35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85" name="Google Shape;985;p35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6" name="Google Shape;986;p35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35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8" name="Google Shape;988;p35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89" name="Google Shape;989;p35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90" name="Google Shape;990;p35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91" name="Google Shape;991;p35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92" name="Google Shape;992;p35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93" name="Google Shape;993;p35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94" name="Google Shape;994;p35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5" name="Google Shape;995;p35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6" name="Google Shape;996;p35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7" name="Google Shape;997;p35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98" name="Google Shape;998;p35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9" name="Google Shape;999;p35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1000" name="Google Shape;1000;p35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35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35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35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35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35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35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35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35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35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5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35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35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0" name="Google Shape;1030;p35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1031" name="Google Shape;1031;p3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2" name="Google Shape;1032;p3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033" name="Google Shape;1033;p3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3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3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3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0" name="Google Shape;1040;p35"/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2" name="Google Shape;1042;p35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1043" name="Google Shape;1043;p35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5" name="Google Shape;1045;p35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1046" name="Google Shape;1046;p35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35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35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35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35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35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547796" y="408498"/>
            <a:ext cx="4746927" cy="8956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TREND ANALYSIS</a:t>
            </a:r>
            <a:endParaRPr sz="4000" dirty="0"/>
          </a:p>
        </p:txBody>
      </p:sp>
      <p:sp>
        <p:nvSpPr>
          <p:cNvPr id="1081" name="Google Shape;1081;p37"/>
          <p:cNvSpPr txBox="1">
            <a:spLocks noGrp="1"/>
          </p:cNvSpPr>
          <p:nvPr>
            <p:ph type="subTitle" idx="1"/>
          </p:nvPr>
        </p:nvSpPr>
        <p:spPr>
          <a:xfrm>
            <a:off x="559300" y="1208410"/>
            <a:ext cx="3662843" cy="18687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analysis reveals a clear long-term increase in Bitcoin transaction activity over time. This trend reflects growing adoption of the network and increased usage during major market cycles.</a:t>
            </a:r>
            <a:endParaRPr dirty="0"/>
          </a:p>
        </p:txBody>
      </p:sp>
      <p:pic>
        <p:nvPicPr>
          <p:cNvPr id="3" name="Εικόνα 2" descr="Εικόνα που περιέχει κείμενο, διάγραμμα, γράφη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4563DBC1-7902-5BB9-7770-56F4FF0E23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79"/>
          <a:stretch>
            <a:fillRect/>
          </a:stretch>
        </p:blipFill>
        <p:spPr>
          <a:xfrm>
            <a:off x="4089181" y="2409243"/>
            <a:ext cx="5054819" cy="25898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>
          <a:extLst>
            <a:ext uri="{FF2B5EF4-FFF2-40B4-BE49-F238E27FC236}">
              <a16:creationId xmlns:a16="http://schemas.microsoft.com/office/drawing/2014/main" id="{D584A79F-64BC-D544-2E07-913E6544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>
            <a:extLst>
              <a:ext uri="{FF2B5EF4-FFF2-40B4-BE49-F238E27FC236}">
                <a16:creationId xmlns:a16="http://schemas.microsoft.com/office/drawing/2014/main" id="{ED5B6D51-827E-000B-9A31-E4A93D2FA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08762" y="360951"/>
            <a:ext cx="4746927" cy="8956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SPIKE DETECTION</a:t>
            </a:r>
            <a:endParaRPr sz="4000" dirty="0"/>
          </a:p>
        </p:txBody>
      </p:sp>
      <p:sp>
        <p:nvSpPr>
          <p:cNvPr id="1081" name="Google Shape;1081;p37">
            <a:extLst>
              <a:ext uri="{FF2B5EF4-FFF2-40B4-BE49-F238E27FC236}">
                <a16:creationId xmlns:a16="http://schemas.microsoft.com/office/drawing/2014/main" id="{D7CA76A9-B0BC-ED22-FFC6-228C5C02232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08762" y="1097280"/>
            <a:ext cx="4628504" cy="2886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Several days exhibit unusually high transaction volumes and transaction fees. These spikes indicate abnormal network activity and often correspond to significant market events or periods of increased demand.</a:t>
            </a:r>
            <a:endParaRPr dirty="0"/>
          </a:p>
        </p:txBody>
      </p:sp>
      <p:pic>
        <p:nvPicPr>
          <p:cNvPr id="4" name="Εικόνα 3" descr="Εικόνα που περιέχει κείμενο, στιγμιότυπο οθόνης, γραμματοσειρά, διάγραμ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737C737-59BF-CB72-1D21-456F1D44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10"/>
          <a:stretch>
            <a:fillRect/>
          </a:stretch>
        </p:blipFill>
        <p:spPr>
          <a:xfrm>
            <a:off x="516834" y="2560106"/>
            <a:ext cx="5144494" cy="247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8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8F412FDD-F193-E927-3F4E-46877005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BA596E61-B347-7D5F-7763-41D714615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REAL-WORLD INTERPRETATION</a:t>
            </a:r>
            <a:endParaRPr lang="en-US" dirty="0"/>
          </a:p>
        </p:txBody>
      </p:sp>
      <p:sp>
        <p:nvSpPr>
          <p:cNvPr id="1295" name="Google Shape;1295;p44">
            <a:extLst>
              <a:ext uri="{FF2B5EF4-FFF2-40B4-BE49-F238E27FC236}">
                <a16:creationId xmlns:a16="http://schemas.microsoft.com/office/drawing/2014/main" id="{78C966F4-2CF1-72BE-ED89-487900CBDF42}"/>
              </a:ext>
            </a:extLst>
          </p:cNvPr>
          <p:cNvSpPr txBox="1"/>
          <p:nvPr/>
        </p:nvSpPr>
        <p:spPr>
          <a:xfrm>
            <a:off x="3221600" y="1189100"/>
            <a:ext cx="5151123" cy="3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>
              <a:lnSpc>
                <a:spcPct val="115000"/>
              </a:lnSpc>
              <a:buClr>
                <a:schemeClr val="lt2"/>
              </a:buClr>
              <a:buSzPts val="1400"/>
            </a:pPr>
            <a:r>
              <a:rPr lang="en-US">
                <a:solidFill>
                  <a:schemeClr val="dk1"/>
                </a:solidFill>
                <a:latin typeface="DM Sans"/>
                <a:sym typeface="DM Sans"/>
              </a:rPr>
              <a:t>Bitcoin transaction activity reflects real-world market events. Several major events coincide with observed spikes in transaction volume and network fees.</a:t>
            </a:r>
          </a:p>
          <a:p>
            <a:pPr marL="457200" indent="-317500">
              <a:lnSpc>
                <a:spcPct val="115000"/>
              </a:lnSpc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-US" b="1">
                <a:solidFill>
                  <a:schemeClr val="dk1"/>
                </a:solidFill>
                <a:latin typeface="DM Sans"/>
                <a:sym typeface="DM Sans"/>
              </a:rPr>
              <a:t>2013–2014: </a:t>
            </a:r>
            <a:r>
              <a:rPr lang="en-US">
                <a:solidFill>
                  <a:schemeClr val="dk1"/>
                </a:solidFill>
                <a:latin typeface="DM Sans"/>
                <a:sym typeface="DM Sans"/>
              </a:rPr>
              <a:t>Early adoption phase and first major Bitcoin price rally</a:t>
            </a:r>
          </a:p>
          <a:p>
            <a:pPr marL="457200" lvl="0" indent="-317500">
              <a:lnSpc>
                <a:spcPct val="115000"/>
              </a:lnSpc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December 2017: 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Bitcoin bull market peak and extreme network congestionMarch </a:t>
            </a:r>
          </a:p>
          <a:p>
            <a:pPr marL="457200" lvl="0" indent="-317500">
              <a:lnSpc>
                <a:spcPct val="115000"/>
              </a:lnSpc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2020: 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COVID-19 market shock and heightened transaction activity</a:t>
            </a:r>
          </a:p>
          <a:p>
            <a:pPr marL="457200" lvl="0" indent="-317500">
              <a:lnSpc>
                <a:spcPct val="115000"/>
              </a:lnSpc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2021: 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Institutional adoption and widespread retail participation</a:t>
            </a:r>
          </a:p>
          <a:p>
            <a:pPr marL="457200" lvl="0" indent="-317500">
              <a:lnSpc>
                <a:spcPct val="115000"/>
              </a:lnSpc>
              <a:buClr>
                <a:schemeClr val="lt2"/>
              </a:buClr>
              <a:buSzPts val="1400"/>
              <a:buFont typeface="Lato"/>
              <a:buAutoNum type="arabicPeriod"/>
            </a:pPr>
            <a:r>
              <a:rPr lang="en-U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2024: </a:t>
            </a: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Bitcoin halving and anticipation of spot Bitcoin ETF approvals</a:t>
            </a: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" name="AutoShape 4" descr="Bitcoin Network Activity Slows While Price Lingers Near Highs - Bloomberg">
            <a:extLst>
              <a:ext uri="{FF2B5EF4-FFF2-40B4-BE49-F238E27FC236}">
                <a16:creationId xmlns:a16="http://schemas.microsoft.com/office/drawing/2014/main" id="{84F85D1C-97EA-7823-0E5A-DCD23C9205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EC1F7326-AC34-1861-037A-9A67800D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0" y="1470991"/>
            <a:ext cx="3311287" cy="263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1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49AF5B04-36AF-62FE-489E-9A107E7E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3D9D16DB-FF9B-A917-BE3E-946950E45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LIMITATIONS</a:t>
            </a:r>
            <a:endParaRPr dirty="0"/>
          </a:p>
        </p:txBody>
      </p:sp>
      <p:sp>
        <p:nvSpPr>
          <p:cNvPr id="1259" name="Google Shape;1259;p42">
            <a:extLst>
              <a:ext uri="{FF2B5EF4-FFF2-40B4-BE49-F238E27FC236}">
                <a16:creationId xmlns:a16="http://schemas.microsoft.com/office/drawing/2014/main" id="{862892A2-3C92-6BA8-B55E-0D800D4C7E31}"/>
              </a:ext>
            </a:extLst>
          </p:cNvPr>
          <p:cNvSpPr txBox="1"/>
          <p:nvPr/>
        </p:nvSpPr>
        <p:spPr>
          <a:xfrm>
            <a:off x="726725" y="10177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While the project demonstrates effective use of Big Data tools and techniques, several limitations should be acknowledged when interpreting the results.</a:t>
            </a:r>
            <a:endParaRPr lang="en-US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0" name="Google Shape;1260;p42">
            <a:extLst>
              <a:ext uri="{FF2B5EF4-FFF2-40B4-BE49-F238E27FC236}">
                <a16:creationId xmlns:a16="http://schemas.microsoft.com/office/drawing/2014/main" id="{7811A011-5083-E951-55D2-8184E1BBE4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81975" y="2029700"/>
            <a:ext cx="6556500" cy="6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400" dirty="0"/>
              <a:t>The analysis is based on daily aggregated data, which limits the ability to capture short-term fluctuations and intraday market dynamics.</a:t>
            </a:r>
            <a:endParaRPr sz="1400" dirty="0"/>
          </a:p>
        </p:txBody>
      </p:sp>
      <p:sp>
        <p:nvSpPr>
          <p:cNvPr id="1261" name="Google Shape;1261;p42">
            <a:extLst>
              <a:ext uri="{FF2B5EF4-FFF2-40B4-BE49-F238E27FC236}">
                <a16:creationId xmlns:a16="http://schemas.microsoft.com/office/drawing/2014/main" id="{3AF12DE0-3CA7-E667-96DD-36EC7EA19FCA}"/>
              </a:ext>
            </a:extLst>
          </p:cNvPr>
          <p:cNvSpPr/>
          <p:nvPr/>
        </p:nvSpPr>
        <p:spPr>
          <a:xfrm>
            <a:off x="1082975" y="2029700"/>
            <a:ext cx="4578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1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62" name="Google Shape;1262;p42">
            <a:extLst>
              <a:ext uri="{FF2B5EF4-FFF2-40B4-BE49-F238E27FC236}">
                <a16:creationId xmlns:a16="http://schemas.microsoft.com/office/drawing/2014/main" id="{13A9557F-9621-EF60-A81A-45FC83C930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81975" y="2883650"/>
            <a:ext cx="6556500" cy="6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400" dirty="0"/>
              <a:t>The project focuses on historical batch processing rather than real-time streaming analytics, which restricts real-time monitoring capabilities.</a:t>
            </a:r>
            <a:endParaRPr sz="1400" dirty="0"/>
          </a:p>
        </p:txBody>
      </p:sp>
      <p:sp>
        <p:nvSpPr>
          <p:cNvPr id="1263" name="Google Shape;1263;p42">
            <a:extLst>
              <a:ext uri="{FF2B5EF4-FFF2-40B4-BE49-F238E27FC236}">
                <a16:creationId xmlns:a16="http://schemas.microsoft.com/office/drawing/2014/main" id="{414EC78A-B4E1-616A-55E2-40F520A72164}"/>
              </a:ext>
            </a:extLst>
          </p:cNvPr>
          <p:cNvSpPr/>
          <p:nvPr/>
        </p:nvSpPr>
        <p:spPr>
          <a:xfrm>
            <a:off x="1082975" y="2883650"/>
            <a:ext cx="4578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2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sp>
        <p:nvSpPr>
          <p:cNvPr id="1264" name="Google Shape;1264;p42">
            <a:extLst>
              <a:ext uri="{FF2B5EF4-FFF2-40B4-BE49-F238E27FC236}">
                <a16:creationId xmlns:a16="http://schemas.microsoft.com/office/drawing/2014/main" id="{67DC62BE-10C3-EB19-DA2E-9CDFBF7704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81975" y="3737600"/>
            <a:ext cx="6556500" cy="6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400" dirty="0"/>
              <a:t>The analysis concentrates on Bitcoin only and does not include cross-asset comparisons with other cryptocurrencies or financial markets.</a:t>
            </a:r>
            <a:endParaRPr sz="1400" dirty="0"/>
          </a:p>
        </p:txBody>
      </p:sp>
      <p:sp>
        <p:nvSpPr>
          <p:cNvPr id="1265" name="Google Shape;1265;p42">
            <a:extLst>
              <a:ext uri="{FF2B5EF4-FFF2-40B4-BE49-F238E27FC236}">
                <a16:creationId xmlns:a16="http://schemas.microsoft.com/office/drawing/2014/main" id="{CFAF4279-F02F-27E5-FB25-E87DA39E5975}"/>
              </a:ext>
            </a:extLst>
          </p:cNvPr>
          <p:cNvSpPr/>
          <p:nvPr/>
        </p:nvSpPr>
        <p:spPr>
          <a:xfrm>
            <a:off x="1082975" y="3737600"/>
            <a:ext cx="4578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3</a:t>
            </a:r>
            <a:endParaRPr sz="3000" dirty="0">
              <a:solidFill>
                <a:schemeClr val="lt1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56683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302" name="Google Shape;1302;p45"/>
          <p:cNvSpPr txBox="1">
            <a:spLocks noGrp="1"/>
          </p:cNvSpPr>
          <p:nvPr>
            <p:ph type="subTitle" idx="1"/>
          </p:nvPr>
        </p:nvSpPr>
        <p:spPr>
          <a:xfrm>
            <a:off x="720000" y="1220120"/>
            <a:ext cx="7811750" cy="1825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This project demonstrates how Big Data tools can be applied to analyze real-world blockchain data. By combining cloud preprocessing, NoSQL storage, and batch analytics, meaningful insights into Bitcoin network behavior were successfully extracted.</a:t>
            </a:r>
            <a:endParaRPr sz="1600" dirty="0"/>
          </a:p>
        </p:txBody>
      </p:sp>
      <p:pic>
        <p:nvPicPr>
          <p:cNvPr id="12" name="Picture 2" descr="Bitcoin - Wikipedia">
            <a:extLst>
              <a:ext uri="{FF2B5EF4-FFF2-40B4-BE49-F238E27FC236}">
                <a16:creationId xmlns:a16="http://schemas.microsoft.com/office/drawing/2014/main" id="{71836C49-E696-6FF5-F82E-A11BAA71F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372" y="4530000"/>
            <a:ext cx="865078" cy="86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46"/>
          <p:cNvSpPr txBox="1">
            <a:spLocks noGrp="1"/>
          </p:cNvSpPr>
          <p:nvPr>
            <p:ph type="title"/>
          </p:nvPr>
        </p:nvSpPr>
        <p:spPr>
          <a:xfrm>
            <a:off x="586889" y="1404504"/>
            <a:ext cx="4360680" cy="28306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/>
              <a:t>Thank you very much for watching</a:t>
            </a:r>
            <a:endParaRPr sz="4800" dirty="0"/>
          </a:p>
        </p:txBody>
      </p:sp>
      <p:grpSp>
        <p:nvGrpSpPr>
          <p:cNvPr id="1354" name="Google Shape;1354;p46"/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1355" name="Google Shape;1355;p46"/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356" name="Google Shape;1356;p4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4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4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4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4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4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4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4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4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4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4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4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4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1" name="Google Shape;1371;p46"/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1372" name="Google Shape;1372;p46"/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46"/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46"/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46"/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46"/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46"/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46"/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46"/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46"/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46"/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6"/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6"/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6"/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6"/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6"/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6"/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6"/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46"/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46"/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46"/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46"/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46"/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6"/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46"/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46"/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46"/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46"/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9" name="Google Shape;1399;p46"/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1400" name="Google Shape;1400;p4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4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4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4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4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4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4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4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8" name="Google Shape;1408;p46"/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409" name="Google Shape;1409;p46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6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46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46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46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46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46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46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46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46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46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46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1" name="Google Shape;1421;p46"/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46"/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46"/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46"/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5" name="Google Shape;1425;p46"/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426" name="Google Shape;1426;p46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46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FF826D25-2095-E24B-50CE-3DAE99B281A6}"/>
              </a:ext>
            </a:extLst>
          </p:cNvPr>
          <p:cNvSpPr/>
          <p:nvPr/>
        </p:nvSpPr>
        <p:spPr>
          <a:xfrm>
            <a:off x="699715" y="3706687"/>
            <a:ext cx="4927069" cy="40275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758</Words>
  <Application>Microsoft Office PowerPoint</Application>
  <PresentationFormat>Προβολή στην οθόνη (16:9)</PresentationFormat>
  <Paragraphs>60</Paragraphs>
  <Slides>15</Slides>
  <Notes>15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5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21" baseType="lpstr">
      <vt:lpstr>Arial</vt:lpstr>
      <vt:lpstr>Baloo 2 ExtraBold</vt:lpstr>
      <vt:lpstr>Lato</vt:lpstr>
      <vt:lpstr>DM Sans</vt:lpstr>
      <vt:lpstr>Calibri</vt:lpstr>
      <vt:lpstr>Statistics and Data Analysis - 6th Grade by Slidesgo</vt:lpstr>
      <vt:lpstr>Big Data Management and Processing</vt:lpstr>
      <vt:lpstr>Introduction</vt:lpstr>
      <vt:lpstr>Motivation</vt:lpstr>
      <vt:lpstr>BIG DATA CHALLENGES</vt:lpstr>
      <vt:lpstr>Big Data Dimensions</vt:lpstr>
      <vt:lpstr>Dataset</vt:lpstr>
      <vt:lpstr>SYSTEM ARCHITECTURE</vt:lpstr>
      <vt:lpstr>Storage &amp; Processing</vt:lpstr>
      <vt:lpstr>RESULTS</vt:lpstr>
      <vt:lpstr>TREND ANALYSIS</vt:lpstr>
      <vt:lpstr>SPIKE DETECTION</vt:lpstr>
      <vt:lpstr>REAL-WORLD INTERPRETATION</vt:lpstr>
      <vt:lpstr>LIMITATIONS</vt:lpstr>
      <vt:lpstr>Conclusion</vt:lpstr>
      <vt:lpstr>Thank you very much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Maria Christofi</cp:lastModifiedBy>
  <cp:revision>25</cp:revision>
  <dcterms:modified xsi:type="dcterms:W3CDTF">2026-01-18T14:48:03Z</dcterms:modified>
</cp:coreProperties>
</file>